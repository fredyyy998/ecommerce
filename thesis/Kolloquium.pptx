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9" r:id="rId9"/>
    <p:sldId id="262" r:id="rId10"/>
    <p:sldId id="263" r:id="rId11"/>
    <p:sldId id="278" r:id="rId12"/>
    <p:sldId id="271" r:id="rId13"/>
    <p:sldId id="280" r:id="rId14"/>
    <p:sldId id="272" r:id="rId15"/>
    <p:sldId id="273" r:id="rId16"/>
    <p:sldId id="274" r:id="rId17"/>
    <p:sldId id="264" r:id="rId18"/>
    <p:sldId id="265" r:id="rId19"/>
    <p:sldId id="276" r:id="rId20"/>
    <p:sldId id="277" r:id="rId21"/>
    <p:sldId id="267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2A2B9FF-349F-4F47-8970-8C3032ED2B7B}">
          <p14:sldIdLst>
            <p14:sldId id="256"/>
            <p14:sldId id="257"/>
          </p14:sldIdLst>
        </p14:section>
        <p14:section name="Basics" id="{482E0E86-07DD-4EBA-869B-C387B4AFE65C}">
          <p14:sldIdLst>
            <p14:sldId id="258"/>
            <p14:sldId id="259"/>
            <p14:sldId id="268"/>
          </p14:sldIdLst>
        </p14:section>
        <p14:section name="Prozedur&amp;Impelmentierung" id="{56728E07-C453-47A0-9A74-54F8F8B94409}">
          <p14:sldIdLst>
            <p14:sldId id="260"/>
            <p14:sldId id="261"/>
            <p14:sldId id="269"/>
          </p14:sldIdLst>
        </p14:section>
        <p14:section name="Vergleich&amp;Analyse" id="{5B40D2D9-AEEB-49A8-89DB-FA4763318EF3}">
          <p14:sldIdLst>
            <p14:sldId id="262"/>
            <p14:sldId id="263"/>
            <p14:sldId id="278"/>
            <p14:sldId id="271"/>
            <p14:sldId id="280"/>
            <p14:sldId id="272"/>
            <p14:sldId id="273"/>
            <p14:sldId id="274"/>
          </p14:sldIdLst>
        </p14:section>
        <p14:section name="Fazit" id="{E1E6A81E-D7FA-47AE-9EC4-77871B91FF49}">
          <p14:sldIdLst>
            <p14:sldId id="264"/>
            <p14:sldId id="265"/>
            <p14:sldId id="276"/>
            <p14:sldId id="277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4404" autoAdjust="0"/>
  </p:normalViewPr>
  <p:slideViewPr>
    <p:cSldViewPr snapToGrid="0">
      <p:cViewPr varScale="1">
        <p:scale>
          <a:sx n="141" d="100"/>
          <a:sy n="141" d="100"/>
        </p:scale>
        <p:origin x="105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14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0CFEE-B879-4430-881A-BE09156C9B45}" type="datetimeFigureOut">
              <a:rPr lang="de-DE" smtClean="0"/>
              <a:t>31.08.2023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1637A-54F7-4237-A405-F199EA8038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310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Kurzer Einstieg ins Thema</a:t>
            </a:r>
          </a:p>
          <a:p>
            <a:r>
              <a:rPr lang="de-DE" dirty="0"/>
              <a:t>Relevanz des Themas</a:t>
            </a:r>
          </a:p>
          <a:p>
            <a:r>
              <a:rPr lang="de-DE" dirty="0"/>
              <a:t>Was ist das konkrete Ziel der Arbeit</a:t>
            </a:r>
          </a:p>
          <a:p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- Wie wurde die Technologien verglichen?</a:t>
            </a:r>
          </a:p>
          <a:p>
            <a:pPr marL="0" indent="0">
              <a:buFontTx/>
              <a:buNone/>
            </a:pPr>
            <a:r>
              <a:rPr lang="de-DE" dirty="0"/>
              <a:t>Wie wurde analysiert?</a:t>
            </a:r>
          </a:p>
          <a:p>
            <a:endParaRPr lang="de-DE" dirty="0"/>
          </a:p>
          <a:p>
            <a:r>
              <a:rPr lang="de-DE" dirty="0"/>
              <a:t>-Vergleich und Analyse</a:t>
            </a:r>
          </a:p>
          <a:p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- Vor- und Nachteile der Technologien</a:t>
            </a:r>
          </a:p>
          <a:p>
            <a:pPr marL="0" indent="0">
              <a:buFontTx/>
              <a:buNone/>
            </a:pPr>
            <a:r>
              <a:rPr lang="de-DE" dirty="0"/>
              <a:t>- Verbesserungen und Einschränkungen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6671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Kurzer Einstieg ins Thema</a:t>
            </a:r>
          </a:p>
          <a:p>
            <a:r>
              <a:rPr lang="de-DE" dirty="0"/>
              <a:t>Relevanz des Themas</a:t>
            </a:r>
          </a:p>
          <a:p>
            <a:r>
              <a:rPr lang="de-DE" dirty="0"/>
              <a:t>Was ist das konkrete Ziel der Arbeit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992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.NET und Spring Boot sehr wichtige Frameworks</a:t>
            </a:r>
          </a:p>
          <a:p>
            <a:pPr marL="171450" indent="-171450">
              <a:buFontTx/>
              <a:buChar char="-"/>
            </a:pPr>
            <a:r>
              <a:rPr lang="de-DE" b="0" i="0" dirty="0">
                <a:solidFill>
                  <a:srgbClr val="D1D5DB"/>
                </a:solidFill>
                <a:effectLst/>
                <a:latin typeface="Söhne"/>
              </a:rPr>
              <a:t>C# und Java sind stark typgebunden und objektorientiert, im Gegensatz zu Sprachen wie JavaScript, die objektorientiert sind, aber dynamische Typisierung verwenden.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Relationale Datenbanken sehr beleibt im vergleich zu anderen Datenbanken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 </a:t>
            </a:r>
            <a:r>
              <a:rPr lang="de-DE" dirty="0" err="1"/>
              <a:t>Impedance</a:t>
            </a:r>
            <a:r>
              <a:rPr lang="de-DE" dirty="0"/>
              <a:t> </a:t>
            </a:r>
            <a:r>
              <a:rPr lang="de-DE" dirty="0" err="1"/>
              <a:t>Missmatch</a:t>
            </a:r>
            <a:r>
              <a:rPr lang="de-DE" dirty="0"/>
              <a:t> Problem</a:t>
            </a:r>
          </a:p>
          <a:p>
            <a:pPr marL="0" indent="0">
              <a:buFontTx/>
              <a:buNone/>
            </a:pPr>
            <a:r>
              <a:rPr lang="de-DE" dirty="0"/>
              <a:t>	- verschiedene Lösungen für</a:t>
            </a:r>
          </a:p>
          <a:p>
            <a:pPr marL="0" indent="0">
              <a:buFontTx/>
              <a:buNone/>
            </a:pPr>
            <a:r>
              <a:rPr lang="de-DE" dirty="0"/>
              <a:t>	- Vererbung</a:t>
            </a:r>
          </a:p>
          <a:p>
            <a:pPr marL="0" indent="0">
              <a:buFontTx/>
              <a:buNone/>
            </a:pPr>
            <a:r>
              <a:rPr lang="de-DE" dirty="0"/>
              <a:t>	- Teilweise unterschiedliche </a:t>
            </a:r>
            <a:r>
              <a:rPr lang="de-DE" dirty="0" err="1"/>
              <a:t>Datantypen</a:t>
            </a: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	- Andere </a:t>
            </a:r>
            <a:r>
              <a:rPr lang="de-DE" dirty="0" err="1"/>
              <a:t>Refenzierungen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46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Stärken und Schwächen vor allem bei der Anwendung für die Entwickler, hinsichtlich </a:t>
            </a:r>
            <a:r>
              <a:rPr lang="de-DE" dirty="0" err="1"/>
              <a:t>user</a:t>
            </a:r>
            <a:r>
              <a:rPr lang="de-DE" dirty="0"/>
              <a:t>/</a:t>
            </a:r>
            <a:r>
              <a:rPr lang="de-DE" dirty="0" err="1"/>
              <a:t>developer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endParaRPr lang="de-DE" dirty="0"/>
          </a:p>
          <a:p>
            <a:r>
              <a:rPr lang="de-DE" dirty="0"/>
              <a:t>Resultate für Entwickler die gerade am Evaluieren sind welches der </a:t>
            </a:r>
            <a:r>
              <a:rPr lang="de-DE" dirty="0" err="1"/>
              <a:t>Hauptframeworke</a:t>
            </a:r>
            <a:r>
              <a:rPr lang="de-DE" dirty="0"/>
              <a:t> besser für sie geeignet ist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265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Kurze Zusammenfassung des Projekt </a:t>
            </a:r>
            <a:r>
              <a:rPr lang="de-DE" dirty="0" err="1"/>
              <a:t>ablaufs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450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Zuerst eine grobe Architektur entwickelt</a:t>
            </a:r>
          </a:p>
          <a:p>
            <a:r>
              <a:rPr lang="de-DE" dirty="0"/>
              <a:t>Dann über Best </a:t>
            </a:r>
            <a:r>
              <a:rPr lang="de-DE" dirty="0" err="1"/>
              <a:t>Practises</a:t>
            </a:r>
            <a:r>
              <a:rPr lang="de-DE" dirty="0"/>
              <a:t> der Dokumentation, den Code geschrieben</a:t>
            </a:r>
          </a:p>
          <a:p>
            <a:endParaRPr lang="de-DE" dirty="0"/>
          </a:p>
          <a:p>
            <a:r>
              <a:rPr lang="de-DE" dirty="0"/>
              <a:t>Für die Analyse, relevante Themen die </a:t>
            </a:r>
            <a:r>
              <a:rPr lang="de-DE" dirty="0" err="1"/>
              <a:t>vorallem</a:t>
            </a:r>
            <a:r>
              <a:rPr lang="de-DE" dirty="0"/>
              <a:t> bei der Entwicklung des Projektes relevant waren und dadurch für neue Projekte bzw. neue Entwickler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2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ISO/IEC 26514: System- und Softwaretechnik - Entwurf und Entwicklung von Informationen für Nutzer</a:t>
            </a:r>
          </a:p>
          <a:p>
            <a:r>
              <a:rPr lang="de-DE" dirty="0"/>
              <a:t>ISO/IEC 25010: Qualitätsanforderungen und Bewertung von Systemen und Software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876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935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EF Core – es entsteht viel Code -&gt; mehr Wartung erforderlich</a:t>
            </a:r>
          </a:p>
          <a:p>
            <a:r>
              <a:rPr lang="de-DE" dirty="0"/>
              <a:t>EF Core – es muss kein SQL </a:t>
            </a:r>
            <a:r>
              <a:rPr lang="de-DE" dirty="0" err="1"/>
              <a:t>gescrieben</a:t>
            </a:r>
            <a:r>
              <a:rPr lang="de-DE" dirty="0"/>
              <a:t> werden</a:t>
            </a:r>
          </a:p>
          <a:p>
            <a:endParaRPr lang="de-DE" dirty="0"/>
          </a:p>
          <a:p>
            <a:r>
              <a:rPr lang="de-DE" dirty="0" err="1"/>
              <a:t>Flyway</a:t>
            </a:r>
            <a:r>
              <a:rPr lang="de-DE" dirty="0"/>
              <a:t> – integriert sich gut ins </a:t>
            </a:r>
            <a:r>
              <a:rPr lang="de-DE" dirty="0" err="1"/>
              <a:t>ecoystem</a:t>
            </a:r>
            <a:r>
              <a:rPr lang="de-DE" dirty="0"/>
              <a:t> – man kann z.B. </a:t>
            </a:r>
            <a:r>
              <a:rPr lang="de-DE" dirty="0" err="1"/>
              <a:t>migrationen</a:t>
            </a:r>
            <a:r>
              <a:rPr lang="de-DE" dirty="0"/>
              <a:t> automatisch im Startup ausführen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19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Auch in die Tiefe möglich, mehr über Mapping, mehr über </a:t>
            </a:r>
            <a:r>
              <a:rPr lang="de-DE" dirty="0" err="1"/>
              <a:t>Queries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637A-54F7-4237-A405-F199EA8038E6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0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62851-572C-913D-E80D-813C1757E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E9F8DA-1AD8-1BCE-5F69-2911258A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CF8D7-1F78-05BF-E5FD-2D64C728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3A6145-3DF2-C717-1F0B-76629A32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8C5066-EAD6-8C78-979B-E48A45F4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085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508D3-9703-346D-E574-1951E018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93502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FA805B-AFFE-20DB-B53F-EF9CD5ACE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919F72-892F-F258-21F2-91705BA8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EA0D28-D2DE-B875-1A8E-A3AA8C25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26180D-3CDE-C614-40E1-EC8A499B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34B669-398B-1A67-E7B4-8E57524F3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152341"/>
            <a:ext cx="1060136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4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61934-BF78-28C5-383E-6D92BCFE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25647"/>
            <a:ext cx="10515600" cy="92205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34AA29-63F5-1B49-14D9-B10AF81A3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573429"/>
            <a:ext cx="6368572" cy="25162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73E7C2-F87E-FE7D-A3D1-81282AEC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F2173-CD60-2F38-3673-FFE215C7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B5B9E-2F14-13FC-B78C-7D552A94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F6D2E80-4C54-86E3-A717-950C512F3C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152341"/>
            <a:ext cx="1060136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3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8750F-BEEC-985B-B372-4980FD81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89759-A990-F102-12AD-87571E5BA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5E2F50-C566-81FE-E102-2DB3D8D06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E3D55A-2A30-55A2-6A61-F80A2D6C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43D89B-444A-9E7E-24A5-095FA95C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BB771-8244-FFC7-E3E7-49C697E9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023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6FF2B-B8C0-2884-CBCB-16801F0D5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C85A0F-F69B-5730-E458-3CB5D219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A10BE4-EE0C-08AB-7E4D-88F857ACD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3CDC70-3484-54C1-A560-ACD26E7AA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A1CD2B-D332-A97D-DA75-9C7C72252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91738B3-6EA1-6FFE-41EE-B2815961F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70AD614-22BF-0BF7-08CE-BEDC93EE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87D4FF2-C831-1ABA-1BEC-C56CD721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17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57F15-593F-F1D7-016A-4225C8AE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809295-ED44-9398-FC0B-F670DFE6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9EC866-966F-29A4-4915-373CCD0E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B2AB98-CA76-52B1-EBF3-D105B511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5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A97D14-DE41-9AAD-6161-A3932778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263756-4A13-3BAF-DAB6-2E93FCBA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63B748-1250-4CC7-BBA5-C3420313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51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AF098-B55D-692F-AF8F-3CADC524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C1E304-2408-8770-A2B5-EF9837E6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9537ED-D68B-C252-79A8-EE2EBC5E3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947345-8C15-2238-02D0-788E9AA8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A05C50-40E8-52D5-21F8-9E8AE5BA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F82B87-FD9C-625E-6187-FB597C6F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08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2A604-852D-C790-5A35-4BA7B1AE4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F1BB8E-0387-93C2-19EB-BEAF977E2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A949D0-3790-4574-DA95-A6C2C3402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74B5F-472A-865A-B393-F4553D8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D3F638-6063-C612-5261-8197BACB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545D77-014F-D26B-CC06-0F9EB7AF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69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69549-41E7-2270-FE30-F8CB2E4C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7EE984-1196-3382-20DC-09667919D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039E93-A274-B359-2676-90E9E9A0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75E1DB-F1B1-68EF-A3CB-7E668CBC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5CE88C-E2E2-DD85-A297-2D001F63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7C307B-70D0-F01A-EA0F-01180113F3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152341"/>
            <a:ext cx="1060136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88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7D6B9F1-4A68-2EAB-452A-7968C25B4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29045A-EC06-9AD7-954D-18B2BA3FF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8828CA-D6AE-732A-2B47-816DE2B2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11E982-DEC5-3F6F-495B-F9FDE773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E53585-B3CA-28CE-0995-802B4B91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05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F7E216-A041-9DC6-529E-A4A1344B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73E793-7EA8-0FA7-162A-6EFF66D7F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6084B5-9039-6BC1-2FB6-712AA870F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DA7707-A1D3-F7D6-68C9-058FBEDA8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02935C-5E9E-FDF4-288D-E3AD8C714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C626F-A4BA-4829-B9B7-712D2A45AF92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F502C63-C6CE-F9C7-416E-7B9C54A33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" t="49792" r="805" b="30211"/>
          <a:stretch/>
        </p:blipFill>
        <p:spPr>
          <a:xfrm>
            <a:off x="838201" y="6266180"/>
            <a:ext cx="10515600" cy="45719"/>
          </a:xfrm>
          <a:prstGeom prst="rect">
            <a:avLst/>
          </a:prstGeom>
        </p:spPr>
      </p:pic>
      <p:pic>
        <p:nvPicPr>
          <p:cNvPr id="8" name="Google Shape;95;p1">
            <a:extLst>
              <a:ext uri="{FF2B5EF4-FFF2-40B4-BE49-F238E27FC236}">
                <a16:creationId xmlns:a16="http://schemas.microsoft.com/office/drawing/2014/main" id="{E0C6020A-1DC9-6D25-7F76-4810852E5A39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787" y="301054"/>
            <a:ext cx="3402013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F7163-C128-C231-FCFF-872E38067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023" y="10414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3600" b="0" i="0" u="none" strike="noStrike" baseline="0" dirty="0">
                <a:latin typeface="+mn-lt"/>
              </a:rPr>
              <a:t>A comparative analysis of ORM frameworks in .NET</a:t>
            </a:r>
            <a:br>
              <a:rPr lang="en-US" sz="3600" b="0" i="0" u="none" strike="noStrike" baseline="0" dirty="0">
                <a:latin typeface="+mn-lt"/>
              </a:rPr>
            </a:br>
            <a:r>
              <a:rPr lang="de-DE" sz="3600" b="0" i="0" u="none" strike="noStrike" baseline="0" dirty="0">
                <a:latin typeface="+mn-lt"/>
              </a:rPr>
              <a:t>and Spring Boot</a:t>
            </a:r>
            <a:endParaRPr lang="de-DE" sz="9600" dirty="0">
              <a:latin typeface="+mn-l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DD4B8A-A8A5-667B-BEAC-E47ACD74D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sz="1800" b="0" i="0" u="none" strike="noStrike" baseline="0" dirty="0">
                <a:latin typeface="SFTI1095"/>
              </a:rPr>
              <a:t>Bachelor of Science </a:t>
            </a:r>
            <a:r>
              <a:rPr lang="en-US" sz="1800" b="0" i="0" u="none" strike="noStrike" baseline="0" dirty="0">
                <a:latin typeface="SFRM1095"/>
              </a:rPr>
              <a:t>Code &amp; Context</a:t>
            </a:r>
          </a:p>
          <a:p>
            <a:pPr algn="l"/>
            <a:r>
              <a:rPr lang="en-US" sz="1800" dirty="0">
                <a:latin typeface="SFRM1095"/>
              </a:rPr>
              <a:t>Frederik Wulf - </a:t>
            </a:r>
            <a:r>
              <a:rPr lang="de-DE" sz="1800" b="0" i="0" u="none" strike="noStrike" baseline="0" dirty="0">
                <a:latin typeface="SFRM1095"/>
              </a:rPr>
              <a:t>Matrikel-Nr.: 11148147</a:t>
            </a:r>
          </a:p>
          <a:p>
            <a:pPr algn="l"/>
            <a:r>
              <a:rPr lang="de-DE" sz="1800" dirty="0">
                <a:latin typeface="SFRM1095"/>
              </a:rPr>
              <a:t>Betreut von:</a:t>
            </a:r>
          </a:p>
          <a:p>
            <a:pPr algn="l"/>
            <a:r>
              <a:rPr lang="de-DE" sz="1800" dirty="0">
                <a:latin typeface="SFRM1095"/>
              </a:rPr>
              <a:t>Prof. Dr. Stefan Bente</a:t>
            </a:r>
          </a:p>
          <a:p>
            <a:pPr algn="l"/>
            <a:r>
              <a:rPr lang="de-DE" sz="1800" dirty="0">
                <a:latin typeface="SFRM1095"/>
              </a:rPr>
              <a:t>Prof. Dr. Frank Schimmel</a:t>
            </a:r>
          </a:p>
        </p:txBody>
      </p:sp>
    </p:spTree>
    <p:extLst>
      <p:ext uri="{BB962C8B-B14F-4D97-AF65-F5344CB8AC3E}">
        <p14:creationId xmlns:p14="http://schemas.microsoft.com/office/powerpoint/2010/main" val="256673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9ACB5-3E7E-608C-E815-03C5BD28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57CE90-868D-DA17-4D27-A5F294E8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Grundlagen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Prozedur und Implementierung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Vergleich und Analyse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Fazit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470994-8943-3991-EA87-56742EA2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C1DBE5-8A73-C374-A777-937D7E4C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F7AAFD2-2DAB-8062-66AC-5328546A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</p:spTree>
    <p:extLst>
      <p:ext uri="{BB962C8B-B14F-4D97-AF65-F5344CB8AC3E}">
        <p14:creationId xmlns:p14="http://schemas.microsoft.com/office/powerpoint/2010/main" val="156325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64B378-65E9-BDC3-DB7F-69FAF9EF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54C43E-6354-BD60-77EC-CAC2034FF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Warum ist das Thema relevant?</a:t>
            </a:r>
          </a:p>
          <a:p>
            <a:pPr marL="342900" indent="-342900">
              <a:buFontTx/>
              <a:buChar char="-"/>
            </a:pPr>
            <a:r>
              <a:rPr lang="de-DE" dirty="0"/>
              <a:t>Was ist das Ziel?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6E8B804-D2FF-2C58-D887-B478410D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DA8498B-3AB5-176A-ACB4-F8C31327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F8339EF-33AB-4805-A18A-B7A2B8A3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85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ist das Thema relevant?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FE0D0AF-3025-B267-4075-E593A8FF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.NET und Spring Boot bei Enterprise Software beliebte Frameworks</a:t>
            </a:r>
          </a:p>
          <a:p>
            <a:r>
              <a:rPr lang="de-DE" dirty="0"/>
              <a:t>EF Core beliebtestes ORM bei .NET</a:t>
            </a:r>
          </a:p>
          <a:p>
            <a:r>
              <a:rPr lang="de-DE" dirty="0"/>
              <a:t>Hibernate Standard Implementation von JPA</a:t>
            </a:r>
          </a:p>
          <a:p>
            <a:r>
              <a:rPr lang="de-DE" dirty="0"/>
              <a:t>Relationale Datenbanken immer noch hohe Relevanz</a:t>
            </a:r>
          </a:p>
          <a:p>
            <a:r>
              <a:rPr lang="de-DE" dirty="0" err="1"/>
              <a:t>Impedance</a:t>
            </a:r>
            <a:r>
              <a:rPr lang="de-DE" dirty="0"/>
              <a:t> </a:t>
            </a:r>
            <a:r>
              <a:rPr lang="de-DE" dirty="0" err="1"/>
              <a:t>Missmatch</a:t>
            </a:r>
            <a:r>
              <a:rPr lang="de-DE" dirty="0"/>
              <a:t> Problem</a:t>
            </a:r>
          </a:p>
          <a:p>
            <a:pPr lvl="1"/>
            <a:r>
              <a:rPr lang="de-DE" dirty="0"/>
              <a:t>OO-Modelle passt nicht zu RDBMS-Modellen</a:t>
            </a:r>
          </a:p>
          <a:p>
            <a:pPr lvl="1"/>
            <a:r>
              <a:rPr lang="de-DE" dirty="0"/>
              <a:t>ORMs lösen diese Probleme mit verschiedenen Pattern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874AC0-E98C-29FF-F96A-F54E35B7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3127039-0CB8-3D04-317B-42A9568E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CB25B1E-8AEA-AA54-922C-3C727257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</p:spTree>
    <p:extLst>
      <p:ext uri="{BB962C8B-B14F-4D97-AF65-F5344CB8AC3E}">
        <p14:creationId xmlns:p14="http://schemas.microsoft.com/office/powerpoint/2010/main" val="309506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9CC1E-EEC2-A42E-B748-5181C63A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das Ziel?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BBE194-9FEF-D630-DC30-67B5270F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Stärken und Schwächen beider Frameworks hinsichtlich ORM-Implementation</a:t>
            </a:r>
          </a:p>
          <a:p>
            <a:r>
              <a:rPr lang="de-DE" dirty="0"/>
              <a:t>Entwicklern bei der Entscheidung des Frameworks unterstützen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15285-DF58-C8A4-29E3-A0395459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831427-659A-684E-BECD-354EAAEE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3A6707-5D23-6E15-71FB-884F75A9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68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64B378-65E9-BDC3-DB7F-69FAF9EF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Prozedur und Implementierung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54C43E-6354-BD60-77EC-CAC2034FF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Wie wurde die Technologien verglichen?</a:t>
            </a:r>
          </a:p>
          <a:p>
            <a:pPr marL="342900" indent="-342900">
              <a:buFontTx/>
              <a:buChar char="-"/>
            </a:pPr>
            <a:r>
              <a:rPr lang="de-DE" dirty="0"/>
              <a:t>Wie wurde analysiert?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6EDC433-DD7E-D363-86B2-3056E4FB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1D41B0-A85D-5334-4B57-347A6FB3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29983DC-551D-5EB9-1408-D0194070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320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Wie wurde die Technologien verglichen?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FE0D0AF-3025-B267-4075-E593A8FF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 von zwei Projekten</a:t>
            </a:r>
          </a:p>
          <a:p>
            <a:pPr lvl="1"/>
            <a:r>
              <a:rPr lang="de-DE" dirty="0"/>
              <a:t>Gleicher Funktionsumfang</a:t>
            </a:r>
          </a:p>
          <a:p>
            <a:pPr lvl="1"/>
            <a:r>
              <a:rPr lang="de-DE" dirty="0"/>
              <a:t>Möglichst von Dokumentation vorgegebene Implementation</a:t>
            </a:r>
          </a:p>
          <a:p>
            <a:r>
              <a:rPr lang="de-DE" dirty="0"/>
              <a:t>Wichtige/Relevante Themen die vor allem bei neuen Entwicklern und Projekten wichtig sind</a:t>
            </a:r>
          </a:p>
          <a:p>
            <a:pPr lvl="1"/>
            <a:r>
              <a:rPr lang="de-DE" dirty="0"/>
              <a:t>Community, Dokumentation, Konfiguration, Entity Mapping, Query Building und </a:t>
            </a:r>
            <a:r>
              <a:rPr lang="de-DE" dirty="0" err="1"/>
              <a:t>Migrations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3112584-A082-6015-6287-81B8A7FB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0F8899-F35A-80CF-A036-A7A14530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CF0A474-5E7A-DE78-C40D-D20758BD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</p:spTree>
    <p:extLst>
      <p:ext uri="{BB962C8B-B14F-4D97-AF65-F5344CB8AC3E}">
        <p14:creationId xmlns:p14="http://schemas.microsoft.com/office/powerpoint/2010/main" val="242463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27C89-22C9-098C-4C61-A7E109AD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wurde analysiert?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EDA134-AAE2-EF0F-0B36-2A879F15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Community: Quantitative Analyse verschiedener Zahlen und Umfragen</a:t>
            </a:r>
          </a:p>
          <a:p>
            <a:r>
              <a:rPr lang="de-DE" dirty="0"/>
              <a:t>Dokumentation:  Vergleich der Dokumentation mit Fokus auf Vorgaben und Empfehlungen aus ISO/IEC 26514</a:t>
            </a:r>
          </a:p>
          <a:p>
            <a:r>
              <a:rPr lang="de-DE" dirty="0"/>
              <a:t>Code </a:t>
            </a:r>
            <a:r>
              <a:rPr lang="de-DE" dirty="0" err="1"/>
              <a:t>Specific</a:t>
            </a:r>
            <a:r>
              <a:rPr lang="de-DE" dirty="0"/>
              <a:t>: Aufwand der Implementierung und Qualitätskriterien von Software aus ISO/IEC 25010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D2251-3EA5-F444-69FD-703C0E2D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FAC65-AB69-11F2-0C52-67E46825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F3F1FD-68CF-4AA4-5C88-CCD6722F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68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64B378-65E9-BDC3-DB7F-69FAF9EF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und Analyse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54C43E-6354-BD60-77EC-CAC2034FF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de-DE" dirty="0"/>
              <a:t>Community und Dokumentation</a:t>
            </a:r>
          </a:p>
          <a:p>
            <a:pPr marL="342900" indent="-342900">
              <a:buFontTx/>
              <a:buChar char="-"/>
            </a:pPr>
            <a:r>
              <a:rPr lang="de-DE" dirty="0"/>
              <a:t>Konfiguration</a:t>
            </a:r>
          </a:p>
          <a:p>
            <a:pPr marL="342900" indent="-342900">
              <a:buFontTx/>
              <a:buChar char="-"/>
            </a:pPr>
            <a:r>
              <a:rPr lang="de-DE" dirty="0"/>
              <a:t>Entity Mapping</a:t>
            </a:r>
          </a:p>
          <a:p>
            <a:pPr marL="342900" indent="-342900">
              <a:buFontTx/>
              <a:buChar char="-"/>
            </a:pPr>
            <a:r>
              <a:rPr lang="de-DE" dirty="0"/>
              <a:t>Query Building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Migrations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E92A8E3-3120-8366-8252-C6D76394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9A77A2-47C1-46F2-6F7A-D3D9C6A8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743D577-2AC0-D82B-6770-73C78E00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868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7030304" cy="1325563"/>
          </a:xfrm>
        </p:spPr>
        <p:txBody>
          <a:bodyPr/>
          <a:lstStyle/>
          <a:p>
            <a:r>
              <a:rPr lang="de-DE" dirty="0"/>
              <a:t>Community und Dokumentation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B0E844-11BE-7DF8-9F7F-D30C86218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3264603-9394-0EE3-EE39-902FD58D69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Große Community – viele Ressourcen</a:t>
            </a:r>
          </a:p>
          <a:p>
            <a:r>
              <a:rPr lang="de-DE" dirty="0"/>
              <a:t>Große Beliebtheit der Sprache C# und des Haupt-Frameworks</a:t>
            </a:r>
          </a:p>
          <a:p>
            <a:r>
              <a:rPr lang="de-DE" dirty="0"/>
              <a:t>Übersichtliche gut gepflegte offizielle Dokumentation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41262D2-4EDB-0D0A-F030-A2F74106B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CE4BB04-30F8-1CA5-591B-8044B7F3CE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Große Community – viele Ressourcen</a:t>
            </a:r>
          </a:p>
          <a:p>
            <a:r>
              <a:rPr lang="de-DE" dirty="0"/>
              <a:t>Beliebtes Haupt-Framework, aber Java als Sprache unbeliebt</a:t>
            </a:r>
          </a:p>
          <a:p>
            <a:r>
              <a:rPr lang="de-DE" dirty="0"/>
              <a:t>Kurze minimalistische Dokumentation, schwierig zu navigieren</a:t>
            </a:r>
          </a:p>
          <a:p>
            <a:r>
              <a:rPr lang="de-DE" dirty="0"/>
              <a:t>Viele Third-Party Ressourcen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977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34D0E-584A-FD32-D0FB-D7EB64D0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7014674" cy="1325563"/>
          </a:xfrm>
        </p:spPr>
        <p:txBody>
          <a:bodyPr/>
          <a:lstStyle/>
          <a:p>
            <a:r>
              <a:rPr lang="de-DE" dirty="0"/>
              <a:t>Community und Dokumentation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E663F2-49DD-8B8F-C743-6D0682E89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Stack Overflow - Fragen</a:t>
            </a:r>
          </a:p>
        </p:txBody>
      </p:sp>
      <p:pic>
        <p:nvPicPr>
          <p:cNvPr id="11" name="Inhaltsplatzhalter 10" descr="Ein Bild, das Text, Screenshot, Zahl, Schrift enthält.&#10;&#10;Automatisch generierte Beschreibung">
            <a:extLst>
              <a:ext uri="{FF2B5EF4-FFF2-40B4-BE49-F238E27FC236}">
                <a16:creationId xmlns:a16="http://schemas.microsoft.com/office/drawing/2014/main" id="{85BADE89-F45F-BC69-22DD-94D54FAF51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17" y="2743894"/>
            <a:ext cx="2280927" cy="1370212"/>
          </a:xfr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675427-C330-37DB-C5EB-6211FF411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Stack Overflow – Developer Survey - Beliebtheit</a:t>
            </a:r>
          </a:p>
        </p:txBody>
      </p:sp>
      <p:pic>
        <p:nvPicPr>
          <p:cNvPr id="13" name="Inhaltsplatzhalter 12" descr="Ein Bild, das Text, Screenshot, Zahl, Schrift enthält.&#10;&#10;Automatisch generierte Beschreibung">
            <a:extLst>
              <a:ext uri="{FF2B5EF4-FFF2-40B4-BE49-F238E27FC236}">
                <a16:creationId xmlns:a16="http://schemas.microsoft.com/office/drawing/2014/main" id="{4024749C-365A-EBC9-1E58-A75C4A9F5D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16" y="4311938"/>
            <a:ext cx="2280927" cy="1370212"/>
          </a:xfr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06BA00-B2C9-40DB-DB85-7B1A95D3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060BC55-B5FE-9CC5-4ECA-118F2DD2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A4F29D-2195-6477-9D49-78A35D33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10</a:t>
            </a:fld>
            <a:endParaRPr lang="de-DE"/>
          </a:p>
        </p:txBody>
      </p:sp>
      <p:pic>
        <p:nvPicPr>
          <p:cNvPr id="15" name="Grafik 14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83B8E1C6-9549-C4BD-ADB7-D87AE17B8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32" y="4311938"/>
            <a:ext cx="2280927" cy="1370212"/>
          </a:xfrm>
          <a:prstGeom prst="rect">
            <a:avLst/>
          </a:prstGeom>
        </p:spPr>
      </p:pic>
      <p:pic>
        <p:nvPicPr>
          <p:cNvPr id="17" name="Grafik 16" descr="Ein Bild, das Text, Screenshot, Zahl, Schrift enthält.&#10;&#10;Automatisch generierte Beschreibung">
            <a:extLst>
              <a:ext uri="{FF2B5EF4-FFF2-40B4-BE49-F238E27FC236}">
                <a16:creationId xmlns:a16="http://schemas.microsoft.com/office/drawing/2014/main" id="{CCC759DD-7032-9709-5B4A-9A7141950D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32" y="2743894"/>
            <a:ext cx="2280927" cy="137021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F49367AA-829E-0CFF-FD90-528A5CC05612}"/>
              </a:ext>
            </a:extLst>
          </p:cNvPr>
          <p:cNvSpPr txBox="1"/>
          <p:nvPr/>
        </p:nvSpPr>
        <p:spPr>
          <a:xfrm>
            <a:off x="7315232" y="4081106"/>
            <a:ext cx="2280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Technologie weiterhin nutzen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8093160-F2CD-7BE0-4F5B-DC0046EF29BC}"/>
              </a:ext>
            </a:extLst>
          </p:cNvPr>
          <p:cNvSpPr txBox="1"/>
          <p:nvPr/>
        </p:nvSpPr>
        <p:spPr>
          <a:xfrm>
            <a:off x="7315232" y="5682150"/>
            <a:ext cx="2280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Technologie ausprobieren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88D8DC7-8DF2-98CB-973E-209EA877958D}"/>
              </a:ext>
            </a:extLst>
          </p:cNvPr>
          <p:cNvSpPr txBox="1"/>
          <p:nvPr/>
        </p:nvSpPr>
        <p:spPr>
          <a:xfrm>
            <a:off x="2278216" y="4109504"/>
            <a:ext cx="2280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Fragen mit Framework Tag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827F0A7-1FAC-48A4-0EFD-D57F9892B028}"/>
              </a:ext>
            </a:extLst>
          </p:cNvPr>
          <p:cNvSpPr txBox="1"/>
          <p:nvPr/>
        </p:nvSpPr>
        <p:spPr>
          <a:xfrm>
            <a:off x="2278215" y="5649150"/>
            <a:ext cx="2280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Fragen mit Sprach Tag</a:t>
            </a:r>
          </a:p>
        </p:txBody>
      </p:sp>
    </p:spTree>
    <p:extLst>
      <p:ext uri="{BB962C8B-B14F-4D97-AF65-F5344CB8AC3E}">
        <p14:creationId xmlns:p14="http://schemas.microsoft.com/office/powerpoint/2010/main" val="295752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D2BDE9-32A2-0504-D91D-BEEB42EAC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 &amp; EF Core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B90F0F-3AFD-2DCB-4AFA-DFEFDAEDF7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Konfiguration der DB über Connection String</a:t>
            </a:r>
          </a:p>
          <a:p>
            <a:pPr algn="l"/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DefaultConnection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": "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server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localhost;database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db;user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offer-user;password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pPr algn="l"/>
            <a:endParaRPr lang="de-DE" sz="1800" dirty="0">
              <a:latin typeface="Aptos Light" panose="020F0502020204030204" pitchFamily="34" charset="0"/>
            </a:endParaRPr>
          </a:p>
          <a:p>
            <a:pPr algn="l"/>
            <a:r>
              <a:rPr lang="de-DE" dirty="0"/>
              <a:t>Konfiguration der Datenbank Abstraktion und jedes Repository </a:t>
            </a:r>
            <a:r>
              <a:rPr lang="de-DE" dirty="0" err="1"/>
              <a:t>implementation</a:t>
            </a:r>
            <a:endParaRPr lang="de-DE" dirty="0"/>
          </a:p>
          <a:p>
            <a:pPr algn="l"/>
            <a:r>
              <a:rPr lang="en-US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builder.Services.AddDbContext</a:t>
            </a:r>
            <a:r>
              <a:rPr lang="en-US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DataContext</a:t>
            </a:r>
            <a:r>
              <a:rPr lang="en-US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&gt;(options =&gt; 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options.UseMySQL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configuration.GetConnectionString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DefaultConnection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")));</a:t>
            </a:r>
            <a:b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builder.Services.AddScoped</a:t>
            </a:r>
            <a:r>
              <a:rPr lang="en-US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IOfferRepository</a:t>
            </a:r>
            <a:r>
              <a:rPr lang="en-US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OfferRepository</a:t>
            </a:r>
            <a:r>
              <a:rPr lang="en-US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&gt;();</a:t>
            </a:r>
            <a:endParaRPr lang="de-DE" sz="2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15FE131-D23D-7B6A-161C-28B88D95E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56FAA88-19E0-4C8E-8333-66B92E73EFE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Konfiguration der DB über Connection Parameter</a:t>
            </a:r>
          </a:p>
          <a:p>
            <a:pPr algn="l"/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spring.datasource.url=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jdbc:mysql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://localhost:3307/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db-springboot</a:t>
            </a:r>
            <a:b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spring.datasource.username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=spring-boot-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offer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-user</a:t>
            </a:r>
            <a:b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spring.datasource.password</a:t>
            </a:r>
            <a:r>
              <a:rPr lang="de-DE" sz="14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de-DE" sz="14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</a:t>
            </a:r>
            <a:endParaRPr lang="de-DE" sz="2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397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Entity Mapping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A97E694-9AF7-1E6F-2F72-E2CA55CDA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 &amp; EF Core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FFCB3A-E4E4-2B97-3280-837162ACC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Fluent</a:t>
            </a:r>
            <a:r>
              <a:rPr lang="de-DE" dirty="0"/>
              <a:t> API</a:t>
            </a:r>
          </a:p>
          <a:p>
            <a:r>
              <a:rPr lang="de-DE" dirty="0"/>
              <a:t>Definition des Mappings in ausgelagerter Klasse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8E14FD5-87BC-E3D0-3224-99BE6FE3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F3E90E7-DDD8-C5EB-FBFF-96420FAEB3F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 err="1"/>
              <a:t>Annotations</a:t>
            </a:r>
            <a:endParaRPr lang="de-DE" dirty="0"/>
          </a:p>
          <a:p>
            <a:r>
              <a:rPr lang="de-DE" dirty="0"/>
              <a:t>Definition des Mappings in der Klassen </a:t>
            </a:r>
            <a:r>
              <a:rPr lang="de-DE" dirty="0" err="1"/>
              <a:t>implementation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35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Entity Mapping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A97E694-9AF7-1E6F-2F72-E2CA55CDA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.NET &amp; EF Core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FFCB3A-E4E4-2B97-3280-837162ACC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OwnsOne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=&gt; 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entity.child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OwnsMany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=&gt; 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entity.child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de-DE" sz="1300" b="0" i="0" u="none" strike="noStrike" baseline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HasOne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=&gt; 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entity.child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HasMany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=&gt; </a:t>
            </a:r>
            <a:r>
              <a:rPr lang="de-DE" sz="1300" b="0" i="0" u="none" strike="noStrike" baseline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entity.child</a:t>
            </a:r>
            <a:r>
              <a:rPr lang="de-DE" sz="1300" b="0" i="0" u="none" strike="noStrike" baseline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WithOne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WithMany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modelBuilder.Entity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SingleOffer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&gt;()</a:t>
            </a:r>
            <a:b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.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HasOne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(so =&gt; 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so.Product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.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WithMany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.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HasForeignKey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kumimoji="0" lang="de-DE" altLang="de-DE" sz="1300" i="0" u="none" strike="noStrike" cap="none" normalizeH="0" baseline="0" dirty="0" err="1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ProductId</a:t>
            </a:r>
            <a:r>
              <a:rPr kumimoji="0" lang="de-DE" altLang="de-DE" sz="130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");</a:t>
            </a:r>
          </a:p>
          <a:p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de-DE" sz="1300" dirty="0"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8E14FD5-87BC-E3D0-3224-99BE6FE3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8F3E90E7-DDD8-C5EB-FBFF-96420FAEB3F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@Embedded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@Embedabble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@ElementCollection</a:t>
            </a:r>
          </a:p>
          <a:p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@OneToOne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@OneToMany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@ManyToOne</a:t>
            </a: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@ManyToMany</a:t>
            </a:r>
          </a:p>
          <a:p>
            <a:endParaRPr lang="de-DE" sz="1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@ManyToOne(cascade = {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CascadeType.PERSIST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CascadeType.MERGE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})</a:t>
            </a:r>
            <a:b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protected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de-DE" sz="13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</a:t>
            </a:r>
            <a:r>
              <a:rPr lang="de-DE" sz="13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18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Query Building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CF11FA-8497-A5BA-6E06-84CC2E1A5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 &amp; EF Core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2E36EAB-BACA-EE51-6F2D-E9E1628A5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LINQ</a:t>
            </a:r>
          </a:p>
          <a:p>
            <a:r>
              <a:rPr lang="de-DE" dirty="0"/>
              <a:t>Hohe Widerverwendbarkeit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public async Task&lt;List&lt;Offer&gt;&gt; 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FindAllExpired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(){</a:t>
            </a:r>
            <a:b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return  </a:t>
            </a: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de-DE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context.Offers.Where</a:t>
            </a: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(o =&gt; </a:t>
            </a:r>
            <a:b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de-DE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o.EndDate</a:t>
            </a: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de-DE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DateTime.Now</a:t>
            </a: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de-DE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ToListAsync</a:t>
            </a: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  <a:b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de-DE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652562D-7C72-6712-D301-B3844FE72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595725D-E3C0-D7BA-4F2F-59139358A7E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Derived</a:t>
            </a:r>
            <a:r>
              <a:rPr lang="de-DE" dirty="0"/>
              <a:t> Query Language und Hibernate Query Language</a:t>
            </a:r>
          </a:p>
          <a:p>
            <a:r>
              <a:rPr lang="de-DE" dirty="0"/>
              <a:t>Implementation von einfachen Methoden bereits gegeben</a:t>
            </a:r>
          </a:p>
          <a:p>
            <a:endParaRPr lang="de-DE" dirty="0"/>
          </a:p>
          <a:p>
            <a:endParaRPr lang="de-DE" dirty="0"/>
          </a:p>
          <a:p>
            <a:endParaRPr lang="en-US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List&lt;Offer&gt; 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findByEndDateGreaterThan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LocalDateTime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date);</a:t>
            </a:r>
            <a:endParaRPr lang="de-DE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132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Migrations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7B6906-4974-EC1C-6AC9-B004BB488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 &amp; EF Core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008D8B2-91D3-A064-FC9E-ED0FD98CE9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Implementation in EF Core</a:t>
            </a:r>
          </a:p>
          <a:p>
            <a:r>
              <a:rPr lang="de-DE" dirty="0"/>
              <a:t>Code First Ansatz – kein SQL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B924975-C0BC-98CD-EFF3-5EA14EC5F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 &amp; </a:t>
            </a:r>
            <a:r>
              <a:rPr lang="de-DE" dirty="0" err="1"/>
              <a:t>Flyway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9B4B2A9-DE9A-2192-6188-8548D80665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Keine Implementation – Third Party Tool benötigt</a:t>
            </a:r>
          </a:p>
          <a:p>
            <a:r>
              <a:rPr lang="de-DE" dirty="0" err="1"/>
              <a:t>Flyway</a:t>
            </a:r>
            <a:r>
              <a:rPr lang="de-DE" dirty="0"/>
              <a:t> beliebtestes Migrationssystem</a:t>
            </a:r>
          </a:p>
          <a:p>
            <a:r>
              <a:rPr lang="de-DE" dirty="0" err="1"/>
              <a:t>Flyway</a:t>
            </a:r>
            <a:r>
              <a:rPr lang="de-DE" dirty="0"/>
              <a:t> benutzt SQL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CC09EF-BF2D-D1CC-04A7-393CB79A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BD86E5-95A2-9D63-B17C-7C208D5C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77B1EB-5C50-CF6C-1EDB-FF30181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859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64B378-65E9-BDC3-DB7F-69FAF9EF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54C43E-6354-BD60-77EC-CAC2034FF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Vor- und Nachteile der Technologien</a:t>
            </a:r>
          </a:p>
          <a:p>
            <a:pPr marL="342900" indent="-342900">
              <a:buFontTx/>
              <a:buChar char="-"/>
            </a:pPr>
            <a:r>
              <a:rPr lang="de-DE" dirty="0"/>
              <a:t>Verbesserungen und Einschränkungen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A2D0F25-ABEF-B857-5994-0915D924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74FBF1-A8AC-E026-F2E4-0D477B7A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665079D-B8E8-8CE9-12EF-38923D12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58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6948243" cy="1325563"/>
          </a:xfrm>
        </p:spPr>
        <p:txBody>
          <a:bodyPr>
            <a:normAutofit/>
          </a:bodyPr>
          <a:lstStyle/>
          <a:p>
            <a:r>
              <a:rPr lang="de-DE" dirty="0"/>
              <a:t>Vor- und Nachteile der Technologien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2F0DAF-3E2A-B1A8-E291-9B98461EE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.NET &amp; EF Core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E64DB04-F18A-866B-4561-E384FD92AA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Sehr gute Dokumentation</a:t>
            </a:r>
          </a:p>
          <a:p>
            <a:r>
              <a:rPr lang="de-DE" dirty="0"/>
              <a:t>Mehr Code Aufwand</a:t>
            </a:r>
          </a:p>
          <a:p>
            <a:r>
              <a:rPr lang="de-DE" dirty="0"/>
              <a:t>Mehr Flexibilität</a:t>
            </a:r>
          </a:p>
          <a:p>
            <a:r>
              <a:rPr lang="de-DE" dirty="0"/>
              <a:t>Migrationssystem </a:t>
            </a:r>
            <a:r>
              <a:rPr lang="de-DE" dirty="0" err="1"/>
              <a:t>implementation</a:t>
            </a:r>
            <a:endParaRPr lang="de-DE" dirty="0"/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7CD3A15-9417-4605-99B6-CF2E15FBB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Spring Boot &amp; Hibernate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D018B68-324A-FDDB-6C45-11F3059368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Viele Third Party Ressourcen</a:t>
            </a:r>
          </a:p>
          <a:p>
            <a:r>
              <a:rPr lang="de-DE" dirty="0"/>
              <a:t>Minimalistisch</a:t>
            </a:r>
          </a:p>
          <a:p>
            <a:r>
              <a:rPr lang="de-DE" dirty="0"/>
              <a:t>Schneller Einstieg</a:t>
            </a:r>
          </a:p>
          <a:p>
            <a:r>
              <a:rPr lang="de-DE" dirty="0"/>
              <a:t>Migrationssystem nur durch Third Party Packages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EC9FC26-0B79-B353-1218-FDACA8ED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46B12D-40D3-F011-C675-3478C1C1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18E85F-EF0A-808B-9642-B54AB698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127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A730806-FE3F-6B29-DB18-55463AF6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Verbesserungen und Einschränkungen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FE0D0AF-3025-B267-4075-E593A8FF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Beide ORMs bieten auch </a:t>
            </a:r>
            <a:r>
              <a:rPr lang="de-DE"/>
              <a:t>weitere Strategien, </a:t>
            </a:r>
            <a:r>
              <a:rPr lang="de-DE" dirty="0"/>
              <a:t>um Probleme zu lösen</a:t>
            </a:r>
          </a:p>
          <a:p>
            <a:r>
              <a:rPr lang="de-DE" dirty="0"/>
              <a:t>Projekt </a:t>
            </a:r>
            <a:r>
              <a:rPr lang="de-DE" dirty="0" err="1"/>
              <a:t>Scale</a:t>
            </a:r>
            <a:endParaRPr lang="de-DE" dirty="0"/>
          </a:p>
          <a:p>
            <a:r>
              <a:rPr lang="de-DE" dirty="0"/>
              <a:t>Weitere wichtige Themen:</a:t>
            </a:r>
          </a:p>
          <a:p>
            <a:pPr lvl="1"/>
            <a:r>
              <a:rPr lang="de-DE" dirty="0"/>
              <a:t>Transaktionen</a:t>
            </a:r>
          </a:p>
          <a:p>
            <a:pPr lvl="1"/>
            <a:r>
              <a:rPr lang="de-DE" dirty="0"/>
              <a:t>Cache</a:t>
            </a:r>
          </a:p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18E85F-EF0A-808B-9642-B54AB698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18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46B12D-40D3-F011-C675-3478C1C1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EC9FC26-0B79-B353-1218-FDACA8ED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</p:spTree>
    <p:extLst>
      <p:ext uri="{BB962C8B-B14F-4D97-AF65-F5344CB8AC3E}">
        <p14:creationId xmlns:p14="http://schemas.microsoft.com/office/powerpoint/2010/main" val="951479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A141FF-D8CC-B719-2222-B30364CC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31577B-9398-99E3-7D88-812DC6044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815EB4-80D9-0219-E863-B7B76762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36CDF1-23F0-62DE-D158-7C59FC30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EE51E6-2D1F-5235-ECDB-D553D761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07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59602B9-1597-B125-F80F-122A135AC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Danke für die Aufmerksamkeit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D57FFF46-3CD0-7E66-F96F-190611095F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F238263-4B4E-24CE-7243-B4CABC29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31.08.2023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48142D-5C66-43E3-5022-0B246B8E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Kolloquium - Frederik Wulf (11148147)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2A00408-A5B3-45B7-9453-ED159670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626F-A4BA-4829-B9B7-712D2A45AF9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10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1217</Words>
  <Application>Microsoft Office PowerPoint</Application>
  <PresentationFormat>Breitbild</PresentationFormat>
  <Paragraphs>254</Paragraphs>
  <Slides>21</Slides>
  <Notes>10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30" baseType="lpstr">
      <vt:lpstr>Aptos Light</vt:lpstr>
      <vt:lpstr>Arial</vt:lpstr>
      <vt:lpstr>Calibri</vt:lpstr>
      <vt:lpstr>Calibri Light</vt:lpstr>
      <vt:lpstr>Cascadia Code</vt:lpstr>
      <vt:lpstr>SFRM1095</vt:lpstr>
      <vt:lpstr>SFTI1095</vt:lpstr>
      <vt:lpstr>Söhne</vt:lpstr>
      <vt:lpstr>Office</vt:lpstr>
      <vt:lpstr>A comparative analysis of ORM frameworks in .NET and Spring Boot</vt:lpstr>
      <vt:lpstr>Gliederung</vt:lpstr>
      <vt:lpstr>Grundlagen</vt:lpstr>
      <vt:lpstr>Warum ist das Thema relevant?</vt:lpstr>
      <vt:lpstr>Was ist das Ziel?</vt:lpstr>
      <vt:lpstr>Prozedur und Implementierung</vt:lpstr>
      <vt:lpstr>Wie wurde die Technologien verglichen?</vt:lpstr>
      <vt:lpstr>Wie wurde analysiert?</vt:lpstr>
      <vt:lpstr>Vergleich und Analyse</vt:lpstr>
      <vt:lpstr>Community und Dokumentation</vt:lpstr>
      <vt:lpstr>Community und Dokumentation</vt:lpstr>
      <vt:lpstr>Konfiguration</vt:lpstr>
      <vt:lpstr>Entity Mapping</vt:lpstr>
      <vt:lpstr>Entity Mapping</vt:lpstr>
      <vt:lpstr>Query Building</vt:lpstr>
      <vt:lpstr>Migrations</vt:lpstr>
      <vt:lpstr>Fazit</vt:lpstr>
      <vt:lpstr>Vor- und Nachteile der Technologien</vt:lpstr>
      <vt:lpstr>Verbesserungen und Einschränkungen</vt:lpstr>
      <vt:lpstr>Quellen</vt:lpstr>
      <vt:lpstr>Danke für die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Frederik Wulf</dc:creator>
  <cp:lastModifiedBy>Frederik Wulf</cp:lastModifiedBy>
  <cp:revision>12</cp:revision>
  <dcterms:created xsi:type="dcterms:W3CDTF">2023-08-25T04:36:26Z</dcterms:created>
  <dcterms:modified xsi:type="dcterms:W3CDTF">2023-08-31T13:20:11Z</dcterms:modified>
</cp:coreProperties>
</file>